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4A264C-189F-4C43-950F-25C61ED509FD}" v="5" dt="2026-03-16T07:33:18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gesh Nersekar" userId="4ca945ce5b61899d" providerId="LiveId" clId="{2DAD5665-0C21-422D-87D3-24F0433A4395}"/>
    <pc:docChg chg="modSld">
      <pc:chgData name="Mangesh Nersekar" userId="4ca945ce5b61899d" providerId="LiveId" clId="{2DAD5665-0C21-422D-87D3-24F0433A4395}" dt="2026-03-16T07:33:18.388" v="4"/>
      <pc:docMkLst>
        <pc:docMk/>
      </pc:docMkLst>
      <pc:sldChg chg="modTransition">
        <pc:chgData name="Mangesh Nersekar" userId="4ca945ce5b61899d" providerId="LiveId" clId="{2DAD5665-0C21-422D-87D3-24F0433A4395}" dt="2026-03-16T07:33:18.388" v="4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937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ngeshnersekar44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angeshnersekar44-web" TargetMode="External"/><Relationship Id="rId4" Type="http://schemas.openxmlformats.org/officeDocument/2006/relationships/hyperlink" Target="https://www.linkedin.com/in/mangesh-nersekar-350750315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mangeshnersekar44@gmail.co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angeshnersekar44-web" TargetMode="External"/><Relationship Id="rId4" Type="http://schemas.openxmlformats.org/officeDocument/2006/relationships/hyperlink" Target="https://www.linkedin.com/in/mangesh-nersekar-3507503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3017520"/>
            <a:ext cx="3200400" cy="32004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840480"/>
            <a:ext cx="1828800" cy="1828800"/>
          </a:xfrm>
          <a:prstGeom prst="ellipse">
            <a:avLst/>
          </a:prstGeom>
          <a:solidFill>
            <a:srgbClr val="00D4FF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4008"/>
            <a:ext cx="9144000" cy="45720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" y="868680"/>
            <a:ext cx="3474720" cy="347472"/>
          </a:xfrm>
          <a:prstGeom prst="rect">
            <a:avLst/>
          </a:prstGeom>
          <a:solidFill>
            <a:srgbClr val="11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47472" y="868680"/>
            <a:ext cx="54864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ANALYTICS  ·  MAJOR PROJECT  · 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1316736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Credit Risk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</a:t>
            </a: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Prediction System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47472" y="3127248"/>
            <a:ext cx="54864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" y="3172968"/>
            <a:ext cx="5486400" cy="27432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" y="3291840"/>
            <a:ext cx="1828800" cy="822960"/>
          </a:xfrm>
          <a:prstGeom prst="rect">
            <a:avLst/>
          </a:prstGeom>
          <a:solidFill>
            <a:srgbClr val="112A4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29184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337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78.38%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47472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59152" y="3291840"/>
            <a:ext cx="1828800" cy="822960"/>
          </a:xfrm>
          <a:prstGeom prst="rect">
            <a:avLst/>
          </a:prstGeom>
          <a:solidFill>
            <a:srgbClr val="112A4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359152" y="329184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2359152" y="3337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359152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ROC-AUC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70832" y="3291840"/>
            <a:ext cx="1828800" cy="822960"/>
          </a:xfrm>
          <a:prstGeom prst="rect">
            <a:avLst/>
          </a:prstGeom>
          <a:solidFill>
            <a:srgbClr val="112A4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70832" y="329184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7"/>
          <p:cNvSpPr/>
          <p:nvPr/>
        </p:nvSpPr>
        <p:spPr>
          <a:xfrm>
            <a:off x="4370832" y="3337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33K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370832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82512" y="3291840"/>
            <a:ext cx="1828800" cy="822960"/>
          </a:xfrm>
          <a:prstGeom prst="rect">
            <a:avLst/>
          </a:prstGeom>
          <a:solidFill>
            <a:srgbClr val="112A4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82512" y="329184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82512" y="3337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382512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7472" y="4279392"/>
            <a:ext cx="8449056" cy="713232"/>
          </a:xfrm>
          <a:prstGeom prst="rect">
            <a:avLst/>
          </a:prstGeom>
          <a:solidFill>
            <a:srgbClr val="112A4A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47472" y="4279392"/>
            <a:ext cx="54864" cy="7132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2793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  </a:t>
            </a:r>
            <a:r>
              <a:rPr lang="en-US" sz="13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4608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  mangeshnersekar44@gmail.com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91840" y="46085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 linkedin.com/in/mangesh-nersekar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608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⌥  github.com/mangeshnersekar44-web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00584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1005840"/>
            <a:ext cx="566928" cy="640080"/>
          </a:xfrm>
          <a:prstGeom prst="rect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10058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6968" y="100584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Problem Statement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" y="1618488"/>
            <a:ext cx="4251960" cy="2286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" y="178308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1783080"/>
            <a:ext cx="566928" cy="64008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" y="17830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6968" y="178308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of the Study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28600" y="2395728"/>
            <a:ext cx="4251960" cy="2286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" y="256032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2560320"/>
            <a:ext cx="566928" cy="640080"/>
          </a:xfrm>
          <a:prstGeom prst="rect">
            <a:avLst/>
          </a:prstGeom>
          <a:solidFill>
            <a:srgbClr val="A78BFA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256032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968" y="256032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Technologies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28600" y="3172968"/>
            <a:ext cx="4251960" cy="22860"/>
          </a:xfrm>
          <a:prstGeom prst="rect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28600" y="333756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3337560"/>
            <a:ext cx="566928" cy="640080"/>
          </a:xfrm>
          <a:prstGeom prst="rect">
            <a:avLst/>
          </a:prstGeom>
          <a:solidFill>
            <a:srgbClr val="FCD34D">
              <a:alpha val="9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333756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6968" y="333756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Description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28600" y="3950208"/>
            <a:ext cx="4251960" cy="22860"/>
          </a:xfrm>
          <a:prstGeom prst="rect">
            <a:avLst/>
          </a:prstGeom>
          <a:solidFill>
            <a:srgbClr val="FCD34D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8600" y="411480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4114800"/>
            <a:ext cx="566928" cy="640080"/>
          </a:xfrm>
          <a:prstGeom prst="rect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" y="411480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6968" y="411480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28600" y="4727448"/>
            <a:ext cx="4251960" cy="2286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754880" y="100584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1005840"/>
            <a:ext cx="566928" cy="64008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10058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13248" y="100584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Flowchart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754880" y="1618488"/>
            <a:ext cx="4251960" cy="2286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54880" y="178308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1783080"/>
            <a:ext cx="566928" cy="640080"/>
          </a:xfrm>
          <a:prstGeom prst="rect">
            <a:avLst/>
          </a:prstGeom>
          <a:solidFill>
            <a:srgbClr val="A78BFA">
              <a:alpha val="9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17830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13248" y="178308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Modeling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54880" y="2395728"/>
            <a:ext cx="4251960" cy="22860"/>
          </a:xfrm>
          <a:prstGeom prst="rect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754880" y="256032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54880" y="2560320"/>
            <a:ext cx="566928" cy="640080"/>
          </a:xfrm>
          <a:prstGeom prst="rect">
            <a:avLst/>
          </a:prstGeom>
          <a:solidFill>
            <a:srgbClr val="FCD34D">
              <a:alpha val="9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0" y="256032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413248" y="256032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754880" y="3172968"/>
            <a:ext cx="4251960" cy="22860"/>
          </a:xfrm>
          <a:prstGeom prst="rect">
            <a:avLst/>
          </a:prstGeom>
          <a:solidFill>
            <a:srgbClr val="FCD34D">
              <a:alpha val="4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754880" y="333756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754880" y="3337560"/>
            <a:ext cx="566928" cy="640080"/>
          </a:xfrm>
          <a:prstGeom prst="rect">
            <a:avLst/>
          </a:prstGeom>
          <a:solidFill>
            <a:srgbClr val="00D4FF">
              <a:alpha val="9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754880" y="333756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413248" y="333756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754880" y="3950208"/>
            <a:ext cx="4251960" cy="2286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754880" y="4114800"/>
            <a:ext cx="4251960" cy="640080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754880" y="4114800"/>
            <a:ext cx="566928" cy="64008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4754880" y="411480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413248" y="4114800"/>
            <a:ext cx="3493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Insights &amp; Conclusion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754880" y="4727448"/>
            <a:ext cx="4251960" cy="2286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4114800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41148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1042416"/>
            <a:ext cx="4114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" y="987552"/>
            <a:ext cx="54864" cy="3749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10424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1591056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Credit risk assessment</a:t>
            </a: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crucial process in banking &amp; finance to evaluate whether a borrower can repay a loan.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digital banking growth,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institutions handle vast volumes of customer data that manual methods cannot process effectively.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builds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 Credit Risk Prediction System using Machine Learning (Logistic Regression), backed by MySQL for data management, Power BI for visualization, and Streamlit for real-time prediction.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987552"/>
            <a:ext cx="4160520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87552"/>
            <a:ext cx="416052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1042416"/>
            <a:ext cx="416052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987552"/>
            <a:ext cx="54864" cy="3749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10424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64608" y="1609344"/>
            <a:ext cx="3931920" cy="731520"/>
          </a:xfrm>
          <a:prstGeom prst="rect">
            <a:avLst/>
          </a:prstGeom>
          <a:solidFill>
            <a:srgbClr val="1A0A14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1609344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"How can ML accurately predict loan defaults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reduce credit risk for financial institutions?"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64608" y="2542032"/>
            <a:ext cx="292608" cy="292608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48656" y="246888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Incorrect lending decisions → financial losses &amp; operational risk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64608" y="3090672"/>
            <a:ext cx="292608" cy="292608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48656" y="301752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systems cannot handle large &amp; complex datasets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64608" y="3639312"/>
            <a:ext cx="292608" cy="292608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64608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48656" y="35661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verification is inconsistent and time-consuming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64608" y="4187952"/>
            <a:ext cx="292608" cy="292608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864608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48656" y="411480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 to proactively identify high-risk borrowers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of the Study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005840"/>
            <a:ext cx="2788920" cy="17190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1005840"/>
            <a:ext cx="27889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1069848"/>
            <a:ext cx="2788920" cy="54864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" y="10698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86968" y="106984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Borrower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4904" y="168249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key factors influencing loan defaults from 33K historical records.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72968" y="1005840"/>
            <a:ext cx="2788920" cy="17190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2968" y="1005840"/>
            <a:ext cx="278892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172968" y="1069848"/>
            <a:ext cx="2788920" cy="54864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3300984" y="10698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831336" y="106984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ML Model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9272" y="168249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Logistic Regression to predict loan default probability.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17336" y="1005840"/>
            <a:ext cx="2788920" cy="17190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17336" y="1005840"/>
            <a:ext cx="278892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117336" y="1069848"/>
            <a:ext cx="2788920" cy="54864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0" name="Text 38"/>
          <p:cNvSpPr/>
          <p:nvPr/>
        </p:nvSpPr>
        <p:spPr>
          <a:xfrm>
            <a:off x="6245352" y="10698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775704" y="106984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Categorization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1682496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borrowers into Low, Medium, and High Risk groups.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37360" y="2907792"/>
            <a:ext cx="2788920" cy="17190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737360" y="2907792"/>
            <a:ext cx="2788920" cy="6400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5" name="Shape 43"/>
          <p:cNvSpPr/>
          <p:nvPr/>
        </p:nvSpPr>
        <p:spPr>
          <a:xfrm>
            <a:off x="1737360" y="2971800"/>
            <a:ext cx="2788920" cy="54864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6" name="Text 44"/>
          <p:cNvSpPr/>
          <p:nvPr/>
        </p:nvSpPr>
        <p:spPr>
          <a:xfrm>
            <a:off x="1865376" y="29718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CD3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2395728" y="29718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Performance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883664" y="358444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Accuracy (78.38%), ROC-AUC (0.85), and Confusion Matrix.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81728" y="2907792"/>
            <a:ext cx="2788920" cy="17190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81728" y="2907792"/>
            <a:ext cx="27889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Shape 49"/>
          <p:cNvSpPr/>
          <p:nvPr/>
        </p:nvSpPr>
        <p:spPr>
          <a:xfrm>
            <a:off x="4681728" y="2971800"/>
            <a:ext cx="2788920" cy="54864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2" name="Text 50"/>
          <p:cNvSpPr/>
          <p:nvPr/>
        </p:nvSpPr>
        <p:spPr>
          <a:xfrm>
            <a:off x="4809744" y="29718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5340096" y="29718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8032" y="358444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interactive dashboards to visualize credit risk insights.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00584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1005840"/>
            <a:ext cx="64008" cy="8046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" y="100584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100584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93192" y="1389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language for data analysis &amp; ML development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100584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1005840"/>
            <a:ext cx="64008" cy="8046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800600" y="100584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100584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 &amp; NumPy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01184" y="1389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manipulation, cleaning, and numerical computations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" y="196596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1965960"/>
            <a:ext cx="64008" cy="8046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292608" y="196596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" y="196596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93192" y="23500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Regression, Random Forest, model evaluation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36592" y="196596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1965960"/>
            <a:ext cx="64008" cy="8046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2" name="Shape 40"/>
          <p:cNvSpPr/>
          <p:nvPr/>
        </p:nvSpPr>
        <p:spPr>
          <a:xfrm>
            <a:off x="4800600" y="196596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901184" y="196596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CD3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 &amp; Seaborn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901184" y="23500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charts, distribution plots, correlation heatmaps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292608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2926080"/>
            <a:ext cx="64008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292608" y="292608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93192" y="29260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393192" y="33101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data storage, SQL queries, VIEW for Power BI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36592" y="292608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36592" y="2926080"/>
            <a:ext cx="64008" cy="8046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2" name="Shape 50"/>
          <p:cNvSpPr/>
          <p:nvPr/>
        </p:nvSpPr>
        <p:spPr>
          <a:xfrm>
            <a:off x="4800600" y="292608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901184" y="29260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901184" y="33101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credit risk dashboards &amp; visualizations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8600" y="388620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28600" y="3886200"/>
            <a:ext cx="64008" cy="8046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7" name="Shape 55"/>
          <p:cNvSpPr/>
          <p:nvPr/>
        </p:nvSpPr>
        <p:spPr>
          <a:xfrm>
            <a:off x="292608" y="388620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93192" y="388620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393192" y="4270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app for real-time loan default prediction input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36592" y="3886200"/>
            <a:ext cx="4279392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36592" y="3886200"/>
            <a:ext cx="64008" cy="8046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4800600" y="3886200"/>
            <a:ext cx="4215384" cy="804672"/>
          </a:xfrm>
          <a:prstGeom prst="rect">
            <a:avLst/>
          </a:prstGeom>
          <a:solidFill>
            <a:srgbClr val="0D1F33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4901184" y="388620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Metrics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4901184" y="4270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Accuracy, ROC-AUC, Confusion Matrix evaluation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CD34D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2029968" cy="10058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2029968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105156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33,000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28600" y="160934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987552"/>
            <a:ext cx="2029968" cy="10058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23160" y="987552"/>
            <a:ext cx="2029968" cy="640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105156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21.82%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2423160" y="160934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Rate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987552"/>
            <a:ext cx="2029968" cy="10058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987552"/>
            <a:ext cx="202996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105156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7,108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617720" y="160934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Defaults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987552"/>
            <a:ext cx="2029968" cy="10058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12280" y="987552"/>
            <a:ext cx="202996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105156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80/20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812280" y="160934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Test Split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8600" y="2148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Dataset Variables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42032"/>
          <a:ext cx="868680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person_age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 of the borrower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loan_amnt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Amount of loan taken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person_income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Annual income of borrower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loan_intent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 of the loan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home_ownership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Own / Rent / Mortgage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loan_grade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Credit grade assigned (A–G)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CD34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loan_int_rate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Interest rate on loan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3F5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loan_status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Target: Default=1 / Non-Default=0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— Loan Distribution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4160520" cy="3310128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4160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1042416"/>
            <a:ext cx="4160520" cy="420624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104241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Status Distribution</a:t>
            </a:r>
            <a:endParaRPr lang="en-US" sz="1200" dirty="0"/>
          </a:p>
        </p:txBody>
      </p:sp>
      <p:pic>
        <p:nvPicPr>
          <p:cNvPr id="29" name="Image 0" descr="/home/claude/docx_images/image2_cle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508760"/>
            <a:ext cx="4005072" cy="267004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736592" y="987552"/>
            <a:ext cx="4178808" cy="3310128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36592" y="987552"/>
            <a:ext cx="4178808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29"/>
          <p:cNvSpPr/>
          <p:nvPr/>
        </p:nvSpPr>
        <p:spPr>
          <a:xfrm>
            <a:off x="4736592" y="1042416"/>
            <a:ext cx="4178808" cy="420624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3" name="Text 30"/>
          <p:cNvSpPr/>
          <p:nvPr/>
        </p:nvSpPr>
        <p:spPr>
          <a:xfrm>
            <a:off x="4828032" y="104241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Amount Distribution</a:t>
            </a:r>
            <a:endParaRPr lang="en-US" sz="1200" dirty="0"/>
          </a:p>
        </p:txBody>
      </p:sp>
      <p:pic>
        <p:nvPicPr>
          <p:cNvPr id="34" name="Image 1" descr="/home/claude/docx_images/image3_clea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508760"/>
            <a:ext cx="4041648" cy="267004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228600" y="4352544"/>
            <a:ext cx="8686800" cy="41148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6" name="Shape 32"/>
          <p:cNvSpPr/>
          <p:nvPr/>
        </p:nvSpPr>
        <p:spPr>
          <a:xfrm>
            <a:off x="228600" y="4352544"/>
            <a:ext cx="54864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3"/>
          <p:cNvSpPr/>
          <p:nvPr/>
        </p:nvSpPr>
        <p:spPr>
          <a:xfrm>
            <a:off x="365760" y="435254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Insight: </a:t>
            </a: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~78% borrowers repay loans (Class 0) vs 22% defaults (Class 1). Most loans are small-to-medium (₹1K–₹15K range) indicating working-class borrower profile.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— Correlation Matrix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5486400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54864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1042416"/>
            <a:ext cx="5486400" cy="38404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104241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 Heatmap</a:t>
            </a:r>
            <a:endParaRPr lang="en-US" sz="1200" dirty="0"/>
          </a:p>
        </p:txBody>
      </p:sp>
      <p:pic>
        <p:nvPicPr>
          <p:cNvPr id="29" name="Image 0" descr="/home/claude/docx_images/image4_cle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63040"/>
            <a:ext cx="5394960" cy="312724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989320" y="987552"/>
            <a:ext cx="2926080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9320" y="987552"/>
            <a:ext cx="2926080" cy="5486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2" name="Shape 29"/>
          <p:cNvSpPr/>
          <p:nvPr/>
        </p:nvSpPr>
        <p:spPr>
          <a:xfrm>
            <a:off x="5989320" y="1042416"/>
            <a:ext cx="2926080" cy="38404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3" name="Text 30"/>
          <p:cNvSpPr/>
          <p:nvPr/>
        </p:nvSpPr>
        <p:spPr>
          <a:xfrm>
            <a:off x="6080760" y="10424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080760" y="1517904"/>
            <a:ext cx="54864" cy="65836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5" name="Text 32"/>
          <p:cNvSpPr/>
          <p:nvPr/>
        </p:nvSpPr>
        <p:spPr>
          <a:xfrm>
            <a:off x="6236208" y="1517904"/>
            <a:ext cx="25786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interest rate &amp; loan_percent_income show moderate correlation with loan default (0.34, 0.38)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80760" y="2304288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4"/>
          <p:cNvSpPr/>
          <p:nvPr/>
        </p:nvSpPr>
        <p:spPr>
          <a:xfrm>
            <a:off x="6236208" y="2304288"/>
            <a:ext cx="25786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amount is positively correlated with loan_percent_income (0.58) — larger loans = higher income burden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80760" y="3090672"/>
            <a:ext cx="54864" cy="6583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Text 36"/>
          <p:cNvSpPr/>
          <p:nvPr/>
        </p:nvSpPr>
        <p:spPr>
          <a:xfrm>
            <a:off x="6236208" y="3090672"/>
            <a:ext cx="25786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 age &amp; credit history length have strong positive correlation (0.86) — older borrowers have longer histories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80760" y="3877056"/>
            <a:ext cx="54864" cy="6583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1" name="Text 38"/>
          <p:cNvSpPr/>
          <p:nvPr/>
        </p:nvSpPr>
        <p:spPr>
          <a:xfrm>
            <a:off x="6236208" y="3877056"/>
            <a:ext cx="25786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Income negatively correlates with default (−0.14) — higher income reduces default risk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System Flowchart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3291840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32918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1042416"/>
            <a:ext cx="3291840" cy="38404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10424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Flowchart</a:t>
            </a:r>
            <a:endParaRPr lang="en-US" sz="1100" dirty="0"/>
          </a:p>
        </p:txBody>
      </p:sp>
      <p:pic>
        <p:nvPicPr>
          <p:cNvPr id="29" name="Image 0" descr="/home/claude/docx_images/image5_cle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63040"/>
            <a:ext cx="2926080" cy="3145536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3794760" y="987552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794760" y="987552"/>
            <a:ext cx="1664208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Shape 29"/>
          <p:cNvSpPr/>
          <p:nvPr/>
        </p:nvSpPr>
        <p:spPr>
          <a:xfrm>
            <a:off x="3794760" y="1033272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3" name="Text 30"/>
          <p:cNvSpPr/>
          <p:nvPr/>
        </p:nvSpPr>
        <p:spPr>
          <a:xfrm>
            <a:off x="3867912" y="103327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215384" y="103327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886200" y="1426464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33K+ loan records loaded from MySQL database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559552" y="987552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59552" y="987552"/>
            <a:ext cx="1664208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5"/>
          <p:cNvSpPr/>
          <p:nvPr/>
        </p:nvSpPr>
        <p:spPr>
          <a:xfrm>
            <a:off x="5559552" y="1033272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9" name="Text 36"/>
          <p:cNvSpPr/>
          <p:nvPr/>
        </p:nvSpPr>
        <p:spPr>
          <a:xfrm>
            <a:off x="5632704" y="103327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5980176" y="103327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650992" y="1426464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Removed missing values (~3.2%), duplicates fixed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324344" y="987552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324344" y="987552"/>
            <a:ext cx="1664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4" name="Shape 41"/>
          <p:cNvSpPr/>
          <p:nvPr/>
        </p:nvSpPr>
        <p:spPr>
          <a:xfrm>
            <a:off x="7324344" y="1033272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5" name="Text 42"/>
          <p:cNvSpPr/>
          <p:nvPr/>
        </p:nvSpPr>
        <p:spPr>
          <a:xfrm>
            <a:off x="7397496" y="103327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7744968" y="103327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Transformation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415784" y="1426464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One-hot encoding of loan_intent, loan_grade, home_ownership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3794760" y="2249424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794760" y="2249424"/>
            <a:ext cx="1664208" cy="457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0" name="Shape 47"/>
          <p:cNvSpPr/>
          <p:nvPr/>
        </p:nvSpPr>
        <p:spPr>
          <a:xfrm>
            <a:off x="3794760" y="2295144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1" name="Text 48"/>
          <p:cNvSpPr/>
          <p:nvPr/>
        </p:nvSpPr>
        <p:spPr>
          <a:xfrm>
            <a:off x="3867912" y="229514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4215384" y="2295144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3886200" y="2688336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Distribution, correlation heatmap, SQL pattern analysis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559552" y="2249424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559552" y="2249424"/>
            <a:ext cx="1664208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Shape 53"/>
          <p:cNvSpPr/>
          <p:nvPr/>
        </p:nvSpPr>
        <p:spPr>
          <a:xfrm>
            <a:off x="5559552" y="2295144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7" name="Text 54"/>
          <p:cNvSpPr/>
          <p:nvPr/>
        </p:nvSpPr>
        <p:spPr>
          <a:xfrm>
            <a:off x="5632704" y="229514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5980176" y="2295144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Selection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650992" y="2688336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Identified top predictors: loan % income, grade, interest rate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7324344" y="2249424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7324344" y="2249424"/>
            <a:ext cx="1664208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2" name="Shape 59"/>
          <p:cNvSpPr/>
          <p:nvPr/>
        </p:nvSpPr>
        <p:spPr>
          <a:xfrm>
            <a:off x="7324344" y="2295144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63" name="Text 60"/>
          <p:cNvSpPr/>
          <p:nvPr/>
        </p:nvSpPr>
        <p:spPr>
          <a:xfrm>
            <a:off x="7397496" y="229514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7744968" y="2295144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7415784" y="2688336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 + Random Forest on 80% training data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794760" y="3511296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3794760" y="3511296"/>
            <a:ext cx="1664208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8" name="Shape 65"/>
          <p:cNvSpPr/>
          <p:nvPr/>
        </p:nvSpPr>
        <p:spPr>
          <a:xfrm>
            <a:off x="3794760" y="3557016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69" name="Text 66"/>
          <p:cNvSpPr/>
          <p:nvPr/>
        </p:nvSpPr>
        <p:spPr>
          <a:xfrm>
            <a:off x="3867912" y="355701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500" dirty="0"/>
          </a:p>
        </p:txBody>
      </p:sp>
      <p:sp>
        <p:nvSpPr>
          <p:cNvPr id="70" name="Text 67"/>
          <p:cNvSpPr/>
          <p:nvPr/>
        </p:nvSpPr>
        <p:spPr>
          <a:xfrm>
            <a:off x="4215384" y="3557016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3886200" y="3950208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Accuracy: 78.38%, ROC-AUC: 0.85, Confusion Matrix analyzed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5559552" y="3511296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5559552" y="3511296"/>
            <a:ext cx="1664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4" name="Shape 71"/>
          <p:cNvSpPr/>
          <p:nvPr/>
        </p:nvSpPr>
        <p:spPr>
          <a:xfrm>
            <a:off x="5559552" y="3557016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75" name="Text 72"/>
          <p:cNvSpPr/>
          <p:nvPr/>
        </p:nvSpPr>
        <p:spPr>
          <a:xfrm>
            <a:off x="5632704" y="355701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500" dirty="0"/>
          </a:p>
        </p:txBody>
      </p:sp>
      <p:sp>
        <p:nvSpPr>
          <p:cNvPr id="76" name="Text 73"/>
          <p:cNvSpPr/>
          <p:nvPr/>
        </p:nvSpPr>
        <p:spPr>
          <a:xfrm>
            <a:off x="5980176" y="3557016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Segmentation</a:t>
            </a:r>
            <a:endParaRPr lang="en-US" sz="950" dirty="0"/>
          </a:p>
        </p:txBody>
      </p:sp>
      <p:sp>
        <p:nvSpPr>
          <p:cNvPr id="77" name="Text 74"/>
          <p:cNvSpPr/>
          <p:nvPr/>
        </p:nvSpPr>
        <p:spPr>
          <a:xfrm>
            <a:off x="5650992" y="3950208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Borrowers classified: Low / Medium / High Risk by probability score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7324344" y="3511296"/>
            <a:ext cx="1664208" cy="111556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7324344" y="3511296"/>
            <a:ext cx="1664208" cy="457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0" name="Shape 77"/>
          <p:cNvSpPr/>
          <p:nvPr/>
        </p:nvSpPr>
        <p:spPr>
          <a:xfrm>
            <a:off x="7324344" y="3557016"/>
            <a:ext cx="1664208" cy="3657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81" name="Text 78"/>
          <p:cNvSpPr/>
          <p:nvPr/>
        </p:nvSpPr>
        <p:spPr>
          <a:xfrm>
            <a:off x="7397496" y="355701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500" dirty="0"/>
          </a:p>
        </p:txBody>
      </p:sp>
      <p:sp>
        <p:nvSpPr>
          <p:cNvPr id="82" name="Text 79"/>
          <p:cNvSpPr/>
          <p:nvPr/>
        </p:nvSpPr>
        <p:spPr>
          <a:xfrm>
            <a:off x="7744968" y="3557016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+ App</a:t>
            </a:r>
            <a:endParaRPr lang="en-US" sz="950" dirty="0"/>
          </a:p>
        </p:txBody>
      </p:sp>
      <p:sp>
        <p:nvSpPr>
          <p:cNvPr id="83" name="Text 80"/>
          <p:cNvSpPr/>
          <p:nvPr/>
        </p:nvSpPr>
        <p:spPr>
          <a:xfrm>
            <a:off x="7415784" y="3950208"/>
            <a:ext cx="1481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dashboard + Streamlit web prediction interface deployed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2816352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2816352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1051560"/>
            <a:ext cx="2816352" cy="512064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1874520" y="1115568"/>
            <a:ext cx="1078992" cy="256032"/>
          </a:xfrm>
          <a:prstGeom prst="rect">
            <a:avLst/>
          </a:prstGeom>
          <a:solidFill>
            <a:srgbClr val="00D4FF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874520" y="111556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56616" y="105156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6616" y="1627632"/>
            <a:ext cx="256032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56616" y="1810512"/>
            <a:ext cx="146304" cy="146304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" y="171907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Binary classification model (Default vs Non-Default)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" y="2231136"/>
            <a:ext cx="146304" cy="146304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" y="213969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on 80% data, tested on 20% holdout set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56616" y="2651760"/>
            <a:ext cx="146304" cy="146304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" y="256032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Achieved Accuracy: 78.38% and ROC-AUC: 0.85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6616" y="3072384"/>
            <a:ext cx="146304" cy="146304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" y="298094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 probability score per borrower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56616" y="3493008"/>
            <a:ext cx="146304" cy="146304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" y="34015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Fast, interpretable, production-ready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9544" y="987552"/>
            <a:ext cx="2816352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9544" y="987552"/>
            <a:ext cx="281635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3209544" y="1051560"/>
            <a:ext cx="2816352" cy="512064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5" name="Shape 43"/>
          <p:cNvSpPr/>
          <p:nvPr/>
        </p:nvSpPr>
        <p:spPr>
          <a:xfrm>
            <a:off x="4855464" y="1115568"/>
            <a:ext cx="1078992" cy="256032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855464" y="111556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337560" y="105156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337560" y="1627632"/>
            <a:ext cx="256032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337560" y="1810512"/>
            <a:ext cx="146304" cy="146304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557016" y="171907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Initially explored for variable relationship analysis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337560" y="2231136"/>
            <a:ext cx="146304" cy="146304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557016" y="213969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ideal for binary classification outcomes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337560" y="2651760"/>
            <a:ext cx="146304" cy="146304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557016" y="256032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Established a performance baseline only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337560" y="3072384"/>
            <a:ext cx="146304" cy="146304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557016" y="298094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Helped confirm non-linear patterns in data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337560" y="3493008"/>
            <a:ext cx="146304" cy="146304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557016" y="34015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Superseded by Logistic Regression for final model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90488" y="987552"/>
            <a:ext cx="2816352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90488" y="987552"/>
            <a:ext cx="2816352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6190488" y="1051560"/>
            <a:ext cx="2816352" cy="512064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62" name="Shape 60"/>
          <p:cNvSpPr/>
          <p:nvPr/>
        </p:nvSpPr>
        <p:spPr>
          <a:xfrm>
            <a:off x="7836408" y="1115568"/>
            <a:ext cx="1078992" cy="256032"/>
          </a:xfrm>
          <a:prstGeom prst="rect">
            <a:avLst/>
          </a:prstGeom>
          <a:solidFill>
            <a:srgbClr val="A78BFA">
              <a:alpha val="8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836408" y="111556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18504" y="105156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318504" y="1627632"/>
            <a:ext cx="2560320" cy="27432"/>
          </a:xfrm>
          <a:prstGeom prst="rect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318504" y="1810512"/>
            <a:ext cx="146304" cy="146304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537960" y="171907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decision trees for improved accuracy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318504" y="2231136"/>
            <a:ext cx="146304" cy="146304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537960" y="213969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Captures complex non-linear relationships in data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318504" y="2651760"/>
            <a:ext cx="146304" cy="146304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537960" y="256032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built-in feature importance scores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318504" y="3072384"/>
            <a:ext cx="146304" cy="146304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537960" y="298094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robust to outliers and noisy features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318504" y="3493008"/>
            <a:ext cx="146304" cy="146304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537960" y="34015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for comparison and feature validation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Evaluation &amp; Performance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137160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13716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1033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78.38%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2860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91640" y="987552"/>
            <a:ext cx="137160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691640" y="987552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691640" y="1033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69164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ROC-AUC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54680" y="987552"/>
            <a:ext cx="137160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987552"/>
            <a:ext cx="13716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3154680" y="1033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3,500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15468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Negatives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987552"/>
            <a:ext cx="137160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987552"/>
            <a:ext cx="137160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1033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61772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Positives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80760" y="987552"/>
            <a:ext cx="137160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987552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080760" y="1033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08076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Negatives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543800" y="987552"/>
            <a:ext cx="137160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43800" y="987552"/>
            <a:ext cx="137160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7" name="Text 45"/>
          <p:cNvSpPr/>
          <p:nvPr/>
        </p:nvSpPr>
        <p:spPr>
          <a:xfrm>
            <a:off x="7543800" y="1033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943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54380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Positives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8600" y="1920240"/>
            <a:ext cx="4069080" cy="269748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1920240"/>
            <a:ext cx="40690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1" name="Shape 49"/>
          <p:cNvSpPr/>
          <p:nvPr/>
        </p:nvSpPr>
        <p:spPr>
          <a:xfrm>
            <a:off x="228600" y="1975104"/>
            <a:ext cx="4069080" cy="38404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197510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</a:t>
            </a:r>
            <a:endParaRPr lang="en-US" sz="1200" dirty="0"/>
          </a:p>
        </p:txBody>
      </p:sp>
      <p:pic>
        <p:nvPicPr>
          <p:cNvPr id="53" name="Image 0" descr="/home/claude/docx_images/image6_cle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395728"/>
            <a:ext cx="3977640" cy="2157984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4617720" y="1920240"/>
            <a:ext cx="4297680" cy="269748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4617720" y="1920240"/>
            <a:ext cx="4297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Shape 53"/>
          <p:cNvSpPr/>
          <p:nvPr/>
        </p:nvSpPr>
        <p:spPr>
          <a:xfrm>
            <a:off x="4617720" y="1975104"/>
            <a:ext cx="4297680" cy="38404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7" name="Text 54"/>
          <p:cNvSpPr/>
          <p:nvPr/>
        </p:nvSpPr>
        <p:spPr>
          <a:xfrm>
            <a:off x="4709160" y="197510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 Curve — AUC = 0.85</a:t>
            </a:r>
            <a:endParaRPr lang="en-US" sz="1200" dirty="0"/>
          </a:p>
        </p:txBody>
      </p:sp>
      <p:pic>
        <p:nvPicPr>
          <p:cNvPr id="58" name="Image 1" descr="/home/claude/docx_images/image7_clea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2395728"/>
            <a:ext cx="4187952" cy="21579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Dashboard — Credit Risk Assessment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60120"/>
            <a:ext cx="86868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" y="1014984"/>
            <a:ext cx="8686800" cy="299923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27" name="Image 0" descr="/home/claude/docx_images/image8_cle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14984"/>
            <a:ext cx="8595360" cy="299923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228600" y="4078224"/>
            <a:ext cx="2084832" cy="74980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28600" y="4078224"/>
            <a:ext cx="208483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320040" y="41330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Summary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0040" y="4389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33K customers · 7,108 defaults · 21.82% default rate · Avg Loan ₹9.59K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423160" y="4078224"/>
            <a:ext cx="2084832" cy="74980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423160" y="4078224"/>
            <a:ext cx="208483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1"/>
          <p:cNvSpPr/>
          <p:nvPr/>
        </p:nvSpPr>
        <p:spPr>
          <a:xfrm>
            <a:off x="2514600" y="41330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Segments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514600" y="4389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Income vs Loan scatter: High Risk (low income, high loan), Low Risk (high income, low loan)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17720" y="4078224"/>
            <a:ext cx="2084832" cy="74980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17720" y="4078224"/>
            <a:ext cx="208483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1330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Grade Analysis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709160" y="4389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Grades G (98.44%) &amp; F (70.54%) have highest defaults — key filter for loan rejection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812280" y="4078224"/>
            <a:ext cx="2084832" cy="749808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812280" y="4078224"/>
            <a:ext cx="208483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39"/>
          <p:cNvSpPr/>
          <p:nvPr/>
        </p:nvSpPr>
        <p:spPr>
          <a:xfrm>
            <a:off x="6903720" y="41330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Intent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903720" y="4389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Medical (1621) &amp; Debt Consolidation (1490) top default categories by loan purpose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— Credit Risk Prediction Interface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60120"/>
            <a:ext cx="86868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" y="1014984"/>
            <a:ext cx="8686800" cy="2944368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27" name="Image 0" descr="/home/claude/docx_images/image9_cle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14984"/>
            <a:ext cx="8595360" cy="294436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228600" y="4023360"/>
            <a:ext cx="2779776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28600" y="4023360"/>
            <a:ext cx="2779776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338328" y="4078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Inputs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38328" y="434340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Age, income, employment length, loan amount, interest rate, credit history via interactive sliders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172968" y="4023360"/>
            <a:ext cx="2779776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172968" y="4023360"/>
            <a:ext cx="2779776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4" name="Text 31"/>
          <p:cNvSpPr/>
          <p:nvPr/>
        </p:nvSpPr>
        <p:spPr>
          <a:xfrm>
            <a:off x="3282696" y="4078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Probability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82696" y="434340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 outputs exact probability score — shown as a percentage (e.g. 61.43%)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117336" y="4023360"/>
            <a:ext cx="2779776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117336" y="4023360"/>
            <a:ext cx="2779776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5"/>
          <p:cNvSpPr/>
          <p:nvPr/>
        </p:nvSpPr>
        <p:spPr>
          <a:xfrm>
            <a:off x="6227064" y="4078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Classification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227064" y="434340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classifies as Low / Medium / High Risk with visual risk level indicator bar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CD34D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Insights &amp; Key Findings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005840"/>
            <a:ext cx="4297680" cy="107899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1005840"/>
            <a:ext cx="64008" cy="107899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" y="1005840"/>
            <a:ext cx="420624" cy="1078992"/>
          </a:xfrm>
          <a:prstGeom prst="rect">
            <a:avLst/>
          </a:prstGeom>
          <a:solidFill>
            <a:srgbClr val="F43F5E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1005840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5528" y="10607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Grade → Default Risk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" y="138988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Borrowers in grades F &amp; G have default rates of 70–98%. Grade is the single strongest rejection signal for lenders.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1005840"/>
            <a:ext cx="4297680" cy="107899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005840"/>
            <a:ext cx="64008" cy="107899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3" name="Shape 31"/>
          <p:cNvSpPr/>
          <p:nvPr/>
        </p:nvSpPr>
        <p:spPr>
          <a:xfrm>
            <a:off x="4818888" y="1005840"/>
            <a:ext cx="420624" cy="1078992"/>
          </a:xfrm>
          <a:prstGeom prst="rect">
            <a:avLst/>
          </a:prstGeom>
          <a:solidFill>
            <a:srgbClr val="F43F5E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005840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21808" y="10607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Loan-to-Income Ratio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21808" y="138988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Borrowers with loan amount &gt; 20–30% of income are far more likely to default. loan_percent_income = 0.34 importance.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2240280"/>
            <a:ext cx="4297680" cy="107899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2240280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292608" y="2240280"/>
            <a:ext cx="420624" cy="107899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2240280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95528" y="22951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Interest Rate = High Risk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95528" y="262432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Interest rate correlates with default probability (0.34). Lenders assign higher rates to risky borrowers unknowingly amplifying risk.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240280"/>
            <a:ext cx="4297680" cy="107899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240280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18888" y="2240280"/>
            <a:ext cx="420624" cy="107899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2240280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321808" y="22951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Medical &amp; Debt Consolidation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21808" y="262432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loan intents account for 3,111 of 7,108 total defaults. Purpose of loan is a strong risk signal.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28600" y="3474720"/>
            <a:ext cx="4297680" cy="107899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3474720"/>
            <a:ext cx="64008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Shape 49"/>
          <p:cNvSpPr/>
          <p:nvPr/>
        </p:nvSpPr>
        <p:spPr>
          <a:xfrm>
            <a:off x="292608" y="3474720"/>
            <a:ext cx="420624" cy="1078992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3474720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95528" y="352958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Longer Credit History = Safe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95528" y="385876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Older borrowers with longer credit histories (age–history correlation: 0.86) show consistently lower default rates.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754880" y="3474720"/>
            <a:ext cx="4297680" cy="1078992"/>
          </a:xfrm>
          <a:prstGeom prst="rect">
            <a:avLst/>
          </a:prstGeom>
          <a:solidFill>
            <a:srgbClr val="0F2644"/>
          </a:solidFill>
          <a:ln/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3474720"/>
            <a:ext cx="64008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Shape 55"/>
          <p:cNvSpPr/>
          <p:nvPr/>
        </p:nvSpPr>
        <p:spPr>
          <a:xfrm>
            <a:off x="4818888" y="3474720"/>
            <a:ext cx="420624" cy="1078992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3474720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321808" y="352958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 Home Ownership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321808" y="385876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 ownership (own/mortgage) indicates financial stability and correlates with better loan repayment behaviour.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3200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  ·  Credit Risk Analysis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411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987552"/>
            <a:ext cx="4160520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987552"/>
            <a:ext cx="41605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1051560"/>
            <a:ext cx="4160520" cy="438912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" y="987552"/>
            <a:ext cx="64008" cy="3749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10515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 CONCLUSION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" y="1664208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1572768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Developed a complete Credit Risk Prediction System using Logistic Regression achieving 78.38% accuracy and ROC-AUC of 0.85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2103120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2011680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end-to-end pipeline: Python (ML) → MySQL (storage) → Power BI (dashboard) → Streamlit (web app)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" y="2542032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2450592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Borrowers successfully classified into Low, Medium, and High Risk categories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2980944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2889504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enables financial institutions to identify high-risk borrowers proactively and reduce loan losses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4048" y="3419856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3328416"/>
            <a:ext cx="3621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dashboard provides real-time executive-level credit risk visibility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987552"/>
            <a:ext cx="4160520" cy="3749040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987552"/>
            <a:ext cx="416052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1051560"/>
            <a:ext cx="4160520" cy="438912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3" name="Shape 41"/>
          <p:cNvSpPr/>
          <p:nvPr/>
        </p:nvSpPr>
        <p:spPr>
          <a:xfrm>
            <a:off x="4754880" y="987552"/>
            <a:ext cx="64008" cy="3749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10515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 FUTURE SCOPE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19472" y="1609344"/>
            <a:ext cx="274320" cy="274320"/>
          </a:xfrm>
          <a:prstGeom prst="rect">
            <a:avLst/>
          </a:prstGeom>
          <a:solidFill>
            <a:srgbClr val="00D4FF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85232" y="1572768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XGBoost &amp; Gradient Boosting for higher prediction accuracy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19472" y="2048256"/>
            <a:ext cx="274320" cy="274320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919472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85232" y="2011680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real-time banking data for instant credit evaluation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19472" y="2487168"/>
            <a:ext cx="274320" cy="274320"/>
          </a:xfrm>
          <a:prstGeom prst="rect">
            <a:avLst/>
          </a:prstGeom>
          <a:solidFill>
            <a:srgbClr val="A78BFA">
              <a:alpha val="8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919472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85232" y="2450592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Explainable AI — SHAP &amp; LIME to make predictions transparent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919472" y="2926080"/>
            <a:ext cx="274320" cy="274320"/>
          </a:xfrm>
          <a:prstGeom prst="rect">
            <a:avLst/>
          </a:prstGeom>
          <a:solidFill>
            <a:srgbClr val="FCD34D">
              <a:alpha val="8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85232" y="2889504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system on AWS/Azure cloud for scalable, production-ready access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919472" y="3364992"/>
            <a:ext cx="274320" cy="274320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919472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85232" y="3328416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to multi-class risk scoring with finer risk granularity levels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D4FF">
              <a:alpha val="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A78BFA">
              <a:alpha val="9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-457200"/>
            <a:ext cx="2286000" cy="2286000"/>
          </a:xfrm>
          <a:prstGeom prst="ellipse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22" name="Shape 20"/>
          <p:cNvSpPr/>
          <p:nvPr/>
        </p:nvSpPr>
        <p:spPr>
          <a:xfrm>
            <a:off x="2743200" y="1938528"/>
            <a:ext cx="36576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2002536"/>
            <a:ext cx="3108960" cy="36576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0848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2724912"/>
            <a:ext cx="187452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724912"/>
            <a:ext cx="1874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7797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78.38%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3218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2724912"/>
            <a:ext cx="187452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06040" y="2724912"/>
            <a:ext cx="1874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2606040" y="27797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606040" y="3218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ROC-AUC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724912"/>
            <a:ext cx="187452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724912"/>
            <a:ext cx="1874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7797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33K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63440" y="3218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20840" y="2724912"/>
            <a:ext cx="1874520" cy="804672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20840" y="2724912"/>
            <a:ext cx="18745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27797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21.82%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20840" y="3218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Rate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657600"/>
            <a:ext cx="8229600" cy="1207008"/>
          </a:xfrm>
          <a:prstGeom prst="rect">
            <a:avLst/>
          </a:prstGeom>
          <a:solidFill>
            <a:srgbClr val="0F2644"/>
          </a:solidFill>
          <a:ln/>
          <a:effectLst>
            <a:outerShdw blurRad="2794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3657600"/>
            <a:ext cx="64008" cy="1207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657600"/>
            <a:ext cx="82296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37033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Mangesh Nersekar</a:t>
            </a: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·  Data Analytics Major Project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94360" y="4114800"/>
            <a:ext cx="2542032" cy="621792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360" y="4114800"/>
            <a:ext cx="2542032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41605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✉  Email</a:t>
            </a:r>
            <a:endParaRPr lang="en-US" sz="900" dirty="0"/>
          </a:p>
        </p:txBody>
      </p:sp>
      <p:sp>
        <p:nvSpPr>
          <p:cNvPr id="48" name="Text 46">
            <a:hlinkClick r:id="rId3"/>
          </p:cNvPr>
          <p:cNvSpPr/>
          <p:nvPr/>
        </p:nvSpPr>
        <p:spPr>
          <a:xfrm>
            <a:off x="685800" y="4370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mangeshnersekar44@gmail.com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37560" y="4114800"/>
            <a:ext cx="2542032" cy="621792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0" name="Shape 48"/>
          <p:cNvSpPr/>
          <p:nvPr/>
        </p:nvSpPr>
        <p:spPr>
          <a:xfrm>
            <a:off x="3337560" y="4114800"/>
            <a:ext cx="254203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Text 49"/>
          <p:cNvSpPr/>
          <p:nvPr/>
        </p:nvSpPr>
        <p:spPr>
          <a:xfrm>
            <a:off x="3429000" y="41605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 LinkedIn</a:t>
            </a:r>
            <a:endParaRPr lang="en-US" sz="900" dirty="0"/>
          </a:p>
        </p:txBody>
      </p:sp>
      <p:sp>
        <p:nvSpPr>
          <p:cNvPr id="52" name="Text 50">
            <a:hlinkClick r:id="rId4"/>
          </p:cNvPr>
          <p:cNvSpPr/>
          <p:nvPr/>
        </p:nvSpPr>
        <p:spPr>
          <a:xfrm>
            <a:off x="3429000" y="4370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linkedin.com/in/mangesh-nersekar-350750315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80760" y="4114800"/>
            <a:ext cx="2542032" cy="621792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4" name="Shape 52"/>
          <p:cNvSpPr/>
          <p:nvPr/>
        </p:nvSpPr>
        <p:spPr>
          <a:xfrm>
            <a:off x="6080760" y="4114800"/>
            <a:ext cx="25420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172200" y="41605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⌥  GitHub</a:t>
            </a:r>
            <a:endParaRPr lang="en-US" sz="900" dirty="0"/>
          </a:p>
        </p:txBody>
      </p:sp>
      <p:sp>
        <p:nvSpPr>
          <p:cNvPr id="56" name="Text 54">
            <a:hlinkClick r:id="rId5"/>
          </p:cNvPr>
          <p:cNvSpPr/>
          <p:nvPr/>
        </p:nvSpPr>
        <p:spPr>
          <a:xfrm>
            <a:off x="6172200" y="4370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github.com/mangeshnersekar44-web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1482</Words>
  <Application>Microsoft Office PowerPoint</Application>
  <PresentationFormat>On-screen Show (16:9)</PresentationFormat>
  <Paragraphs>310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Analysis – Mangesh Nersekar</dc:title>
  <dc:subject>PptxGenJS Presentation</dc:subject>
  <dc:creator>PptxGenJS</dc:creator>
  <cp:lastModifiedBy>Mangesh Nersekar</cp:lastModifiedBy>
  <cp:revision>2</cp:revision>
  <dcterms:created xsi:type="dcterms:W3CDTF">2026-03-16T07:10:27Z</dcterms:created>
  <dcterms:modified xsi:type="dcterms:W3CDTF">2026-03-16T07:33:22Z</dcterms:modified>
</cp:coreProperties>
</file>